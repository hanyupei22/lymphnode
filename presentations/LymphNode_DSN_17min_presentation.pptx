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53035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D9163"/>
                </a:solidFill>
                <a:latin typeface="Aptos"/>
              </a:rPr>
              <a:t>DSN 2026 | 17-minute presentation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24712"/>
            <a:ext cx="6949440" cy="7315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4300" b="1">
                <a:solidFill>
                  <a:srgbClr val="1C232C"/>
                </a:solidFill>
                <a:latin typeface="Aptos"/>
              </a:rPr>
              <a:t>LymphNode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901952"/>
            <a:ext cx="713232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900" b="0">
                <a:solidFill>
                  <a:srgbClr val="596574"/>
                </a:solidFill>
                <a:latin typeface="Aptos"/>
              </a:rPr>
              <a:t>A plug-and-play access control method for deep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5120640" cy="109728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C232C"/>
                </a:solidFill>
                <a:latin typeface="Aptos"/>
              </a:defRPr>
            </a:pPr>
            <a:r>
              <a:t>Goal: protect deployed DNNs before theft, not only prove ownership after theft.</a:t>
            </a:r>
          </a:p>
          <a:p>
            <a:pPr>
              <a:spcAft>
                <a:spcPts val="400"/>
              </a:spcAft>
              <a:defRPr sz="1800">
                <a:solidFill>
                  <a:srgbClr val="1C232C"/>
                </a:solidFill>
                <a:latin typeface="Aptos"/>
              </a:defRPr>
            </a:pPr>
            <a:r>
              <a:t>Core idea: default-deny inference with feature-space credentials and sparse adversarial neutralization.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960120"/>
            <a:ext cx="434340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234440"/>
            <a:ext cx="36576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C232C"/>
                </a:solidFill>
                <a:latin typeface="Aptos"/>
              </a:rPr>
              <a:t>Default-deny DNN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14630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84545"/>
                </a:solidFill>
                <a:latin typeface="Aptos"/>
              </a:rPr>
              <a:t>Unauthorized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11680"/>
            <a:ext cx="15544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84545"/>
                </a:solidFill>
                <a:latin typeface="Aptos"/>
              </a:rPr>
              <a:t>neutralized utility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06640" y="2377440"/>
            <a:ext cx="2743200" cy="0"/>
          </a:xfrm>
          <a:prstGeom prst="line">
            <a:avLst/>
          </a:prstGeom>
          <a:ln w="31750">
            <a:solidFill>
              <a:srgbClr val="B8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06640" y="3108960"/>
            <a:ext cx="14630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D9163"/>
                </a:solidFill>
                <a:latin typeface="Aptos"/>
              </a:rPr>
              <a:t>Authorized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108960"/>
            <a:ext cx="15544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D9163"/>
                </a:solidFill>
                <a:latin typeface="Aptos"/>
              </a:rPr>
              <a:t>clean fidelity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3474720"/>
            <a:ext cx="2743200" cy="0"/>
          </a:xfrm>
          <a:prstGeom prst="line">
            <a:avLst/>
          </a:prstGeom>
          <a:ln w="31750">
            <a:solidFill>
              <a:srgbClr val="1D91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0" y="4160520"/>
            <a:ext cx="32918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32C"/>
                </a:solidFill>
                <a:latin typeface="Aptos"/>
              </a:rPr>
              <a:t>Feature-space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526280"/>
            <a:ext cx="347472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GSUAP active by default; credential triggers antidote.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Talk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74519"/>
            <a:ext cx="658368" cy="658368"/>
          </a:xfrm>
          <a:prstGeom prst="ellipse">
            <a:avLst/>
          </a:prstGeom>
          <a:solidFill>
            <a:srgbClr val="275EB0"/>
          </a:solidFill>
          <a:ln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02536"/>
            <a:ext cx="658368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27048" y="2203703"/>
            <a:ext cx="1581912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788920"/>
            <a:ext cx="20116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C232C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72968"/>
            <a:ext cx="2057400" cy="6400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6574"/>
                </a:solidFill>
                <a:latin typeface="Aptos"/>
              </a:rPr>
              <a:t>Why edge deployment creates oracle access</a:t>
            </a:r>
          </a:p>
        </p:txBody>
      </p:sp>
      <p:sp>
        <p:nvSpPr>
          <p:cNvPr id="10" name="Oval 9"/>
          <p:cNvSpPr/>
          <p:nvPr/>
        </p:nvSpPr>
        <p:spPr>
          <a:xfrm>
            <a:off x="3520440" y="1874519"/>
            <a:ext cx="658368" cy="658368"/>
          </a:xfrm>
          <a:prstGeom prst="ellipse">
            <a:avLst/>
          </a:prstGeom>
          <a:solidFill>
            <a:srgbClr val="E17E3A"/>
          </a:solidFill>
          <a:ln>
            <a:solidFill>
              <a:srgbClr val="E1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02536"/>
            <a:ext cx="658368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0248" y="2203703"/>
            <a:ext cx="1581912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29000" y="2788920"/>
            <a:ext cx="20116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C232C"/>
                </a:solidFill>
                <a:latin typeface="Aptos"/>
              </a:rPr>
              <a:t>Prior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72968"/>
            <a:ext cx="2057400" cy="6400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6574"/>
                </a:solidFill>
                <a:latin typeface="Aptos"/>
              </a:rPr>
              <a:t>Watermarking, locking, output poisoning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1874519"/>
            <a:ext cx="658368" cy="658368"/>
          </a:xfrm>
          <a:prstGeom prst="ellipse">
            <a:avLst/>
          </a:prstGeom>
          <a:solidFill>
            <a:srgbClr val="1D9163"/>
          </a:solidFill>
          <a:ln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002536"/>
            <a:ext cx="658368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13448" y="2203703"/>
            <a:ext cx="1581911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72200" y="2788920"/>
            <a:ext cx="20116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C232C"/>
                </a:solidFill>
                <a:latin typeface="Aptos"/>
              </a:rP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172968"/>
            <a:ext cx="2057400" cy="6400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6574"/>
                </a:solidFill>
                <a:latin typeface="Aptos"/>
              </a:rPr>
              <a:t>Feature-domain credential + GSUAP</a:t>
            </a:r>
          </a:p>
        </p:txBody>
      </p:sp>
      <p:sp>
        <p:nvSpPr>
          <p:cNvPr id="20" name="Oval 19"/>
          <p:cNvSpPr/>
          <p:nvPr/>
        </p:nvSpPr>
        <p:spPr>
          <a:xfrm>
            <a:off x="9006840" y="1874519"/>
            <a:ext cx="658368" cy="658368"/>
          </a:xfrm>
          <a:prstGeom prst="ellipse">
            <a:avLst/>
          </a:prstGeom>
          <a:solidFill>
            <a:srgbClr val="6E58B0"/>
          </a:solidFill>
          <a:ln>
            <a:solidFill>
              <a:srgbClr val="6E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002536"/>
            <a:ext cx="658368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788920"/>
            <a:ext cx="20116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C232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172968"/>
            <a:ext cx="2057400" cy="6400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96574"/>
                </a:solidFill>
                <a:latin typeface="Aptos"/>
              </a:rPr>
              <a:t>Neutralization, overhead, attacks, robustness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98755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596574"/>
                </a:solidFill>
                <a:latin typeface="Aptos"/>
              </a:rPr>
              <a:t>Suggested timing: 5 min background, 4 min design, 7 min evidence, 1 min close.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Why This Problem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61872"/>
            <a:ext cx="50749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261872"/>
            <a:ext cx="50749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43891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75EB0"/>
                </a:solidFill>
                <a:latin typeface="Aptos"/>
              </a:rPr>
              <a:t>Deployment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57400"/>
            <a:ext cx="4297680" cy="201168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Models are high-value IP.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Healthcare, finance, and edge deployments often cannot rely on remote APIs.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On-device or on-premise inference improves latency and data locality.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72768"/>
            <a:ext cx="43891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B84545"/>
                </a:solidFill>
                <a:latin typeface="Aptos"/>
              </a:rPr>
              <a:t>Security consequence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8" y="2057400"/>
            <a:ext cx="4297680" cy="201168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Adversaries can query the model at high volume.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Black-box outputs can leak decision behavior.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A copied model can avoid licensing and enable downstream attacks.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617720"/>
            <a:ext cx="100584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6574"/>
                </a:solidFill>
                <a:latin typeface="Aptos"/>
              </a:rPr>
              <a:t>cloud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617720"/>
            <a:ext cx="11430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6574"/>
                </a:solidFill>
                <a:latin typeface="Aptos"/>
              </a:rPr>
              <a:t>edge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617720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6574"/>
                </a:solidFill>
                <a:latin typeface="Aptos"/>
              </a:rPr>
              <a:t>attacker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4736592"/>
            <a:ext cx="685800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77639" y="4736592"/>
            <a:ext cx="365761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Threat: Oracle Access Enables Model Theft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1874519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169164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84545"/>
                </a:solidFill>
                <a:latin typeface="Aptos"/>
              </a:rPr>
              <a:t>Adversary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051560"/>
            <a:ext cx="1874519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298448"/>
            <a:ext cx="169164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17E3A"/>
                </a:solidFill>
                <a:latin typeface="Aptos"/>
              </a:rPr>
              <a:t>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1874519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075688"/>
            <a:ext cx="169164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75EB0"/>
                </a:solidFill>
                <a:latin typeface="Aptos"/>
              </a:rPr>
              <a:t>Victim DNN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611880"/>
            <a:ext cx="1874519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E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3858768"/>
            <a:ext cx="169164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E58B0"/>
                </a:solidFill>
                <a:latin typeface="Aptos"/>
              </a:rPr>
              <a:t>Outputs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1874519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075688"/>
            <a:ext cx="169164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Stolen / inverted model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697480" y="1481328"/>
            <a:ext cx="548640" cy="603503"/>
          </a:xfrm>
          <a:prstGeom prst="line">
            <a:avLst/>
          </a:prstGeom>
          <a:ln w="31750">
            <a:solidFill>
              <a:srgbClr val="E1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38928" y="1481328"/>
            <a:ext cx="347472" cy="603503"/>
          </a:xfrm>
          <a:prstGeom prst="line">
            <a:avLst/>
          </a:prstGeom>
          <a:ln w="31750">
            <a:solidFill>
              <a:srgbClr val="E1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138928" y="2487168"/>
            <a:ext cx="347472" cy="1536192"/>
          </a:xfrm>
          <a:prstGeom prst="line">
            <a:avLst/>
          </a:prstGeom>
          <a:ln w="31750">
            <a:solidFill>
              <a:srgbClr val="6E5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697480" y="2487168"/>
            <a:ext cx="548640" cy="1536192"/>
          </a:xfrm>
          <a:prstGeom prst="line">
            <a:avLst/>
          </a:prstGeom>
          <a:ln w="31750">
            <a:solidFill>
              <a:srgbClr val="6E5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2240280"/>
            <a:ext cx="822959" cy="0"/>
          </a:xfrm>
          <a:prstGeom prst="line">
            <a:avLst/>
          </a:prstGeom>
          <a:ln w="31750">
            <a:solidFill>
              <a:srgbClr val="B8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846320"/>
            <a:ext cx="6583680" cy="100584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C232C"/>
                </a:solidFill>
                <a:latin typeface="Aptos"/>
              </a:defRPr>
            </a:pPr>
            <a:r>
              <a:t>Model extraction: train a substitute from query-response pairs.</a:t>
            </a:r>
          </a:p>
          <a:p>
            <a:pPr>
              <a:spcAft>
                <a:spcPts val="200"/>
              </a:spcAft>
              <a:defRPr sz="1500">
                <a:solidFill>
                  <a:srgbClr val="1C232C"/>
                </a:solidFill>
                <a:latin typeface="Aptos"/>
              </a:defRPr>
            </a:pPr>
            <a:r>
              <a:t>Model inversion: use outputs to reconstruct sensitive training information.</a:t>
            </a:r>
          </a:p>
          <a:p>
            <a:pPr>
              <a:spcAft>
                <a:spcPts val="200"/>
              </a:spcAft>
              <a:defRPr sz="1500">
                <a:solidFill>
                  <a:srgbClr val="1C232C"/>
                </a:solidFill>
                <a:latin typeface="Aptos"/>
              </a:defRPr>
            </a:pPr>
            <a:r>
              <a:t>Edge deployment removes practical rate limits and server-side query filtering.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53328"/>
            <a:ext cx="9875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Sources: Tramer et al., USENIX Security 2016; Orekondy et al., CVPR 2019; Fredrikson et al., CCS 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Related Work: Three Defense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00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697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75EB0"/>
                </a:solidFill>
                <a:latin typeface="Aptos"/>
              </a:rPr>
              <a:t>Passive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69748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32C"/>
                </a:solidFill>
                <a:latin typeface="Aptos"/>
              </a:rPr>
              <a:t>Watermarks / fingerprints verify ownership after theft.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697480" cy="7315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84545"/>
                </a:solidFill>
                <a:latin typeface="Aptos"/>
              </a:rPr>
              <a:t>Gap: does not prevent unauthorized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00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37360"/>
            <a:ext cx="2697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17E3A"/>
                </a:solidFill>
                <a:latin typeface="Aptos"/>
              </a:rPr>
              <a:t>Model locking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269748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32C"/>
                </a:solidFill>
                <a:latin typeface="Aptos"/>
              </a:rPr>
              <a:t>Cryptographic or structural authorization gates model utility.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977639"/>
            <a:ext cx="2697480" cy="7315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84545"/>
                </a:solidFill>
                <a:latin typeface="Aptos"/>
              </a:rPr>
              <a:t>Gap: retraining, data access, or high runtime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200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E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2697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E58B0"/>
                </a:solidFill>
                <a:latin typeface="Aptos"/>
              </a:rPr>
              <a:t>Output poisoning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269748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C232C"/>
                </a:solidFill>
                <a:latin typeface="Aptos"/>
              </a:rPr>
              <a:t>Perturb predictions to make stolen surrogates worse.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977639"/>
            <a:ext cx="2697480" cy="7315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84545"/>
                </a:solidFill>
                <a:latin typeface="Aptos"/>
              </a:rPr>
              <a:t>Gap: assumes cloud-side interposition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Where Existing Active Defenses Struggle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490472"/>
            <a:ext cx="25603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Method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2588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490472"/>
            <a:ext cx="14630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Original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325880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46903" y="1490472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490472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Post-hoc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25880"/>
            <a:ext cx="2743200" cy="56692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8664" y="1490472"/>
            <a:ext cx="265176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Edge 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892807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057400"/>
            <a:ext cx="25603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Deep-Lock / crypto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892807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2424" y="2057400"/>
            <a:ext cx="14630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1892807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46903" y="2057400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92807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2057400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892807"/>
            <a:ext cx="27432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4" y="2057400"/>
            <a:ext cx="265176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High latency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459736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2624328"/>
            <a:ext cx="25603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SSAT / ActiveGuard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2459736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2424" y="2624328"/>
            <a:ext cx="14630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Often 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2459736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46903" y="2624328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Yes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459736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3" y="2624328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2459736"/>
            <a:ext cx="27432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98664" y="2624328"/>
            <a:ext cx="265176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Setup heavy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3026663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" y="3191256"/>
            <a:ext cx="25603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AdvParams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3026663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92424" y="3191256"/>
            <a:ext cx="14630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No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2040" y="3026663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46903" y="3191256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026663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2783" y="3191256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Yes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3026663"/>
            <a:ext cx="27432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98664" y="3191256"/>
            <a:ext cx="265176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Parameter keying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3593591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758183"/>
            <a:ext cx="25603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PP / CIP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37560" y="3593591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92424" y="3758183"/>
            <a:ext cx="14630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No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2040" y="3593591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46903" y="3758183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No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593591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2783" y="3758183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API layer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43800" y="3593591"/>
            <a:ext cx="27432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98664" y="3758183"/>
            <a:ext cx="265176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232C"/>
                </a:solidFill>
                <a:latin typeface="Aptos"/>
              </a:rPr>
              <a:t>Cloud-oriented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4160520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F1F7F4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" y="4325112"/>
            <a:ext cx="25603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D9163"/>
                </a:solidFill>
                <a:latin typeface="Aptos"/>
              </a:rPr>
              <a:t>LymphNode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37560" y="416052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1F7F4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92424" y="4325112"/>
            <a:ext cx="14630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D9163"/>
                </a:solidFill>
                <a:latin typeface="Aptos"/>
              </a:rPr>
              <a:t>No or tiny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92040" y="4160520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1F7F4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46903" y="4325112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D9163"/>
                </a:solidFill>
                <a:latin typeface="Aptos"/>
              </a:rPr>
              <a:t>No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4160520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1F7F4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72783" y="4325112"/>
            <a:ext cx="1234439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D9163"/>
                </a:solidFill>
                <a:latin typeface="Aptos"/>
              </a:rPr>
              <a:t>Yes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43800" y="4160520"/>
            <a:ext cx="2743200" cy="566928"/>
          </a:xfrm>
          <a:prstGeom prst="roundRect">
            <a:avLst>
              <a:gd name="adj" fmla="val 8000"/>
            </a:avLst>
          </a:prstGeom>
          <a:solidFill>
            <a:srgbClr val="F1F7F4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98664" y="4325112"/>
            <a:ext cx="265176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D9163"/>
                </a:solidFill>
                <a:latin typeface="Aptos"/>
              </a:rPr>
              <a:t>Constant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5349240"/>
            <a:ext cx="987552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596574"/>
                </a:solidFill>
                <a:latin typeface="Aptos"/>
              </a:rPr>
              <a:t>Positioning: LymphNode aims for active prevention without original-data dependence, retraining, or per-query server logic.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Contribution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554480"/>
            <a:ext cx="10149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9372600" cy="11430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1C232C"/>
                </a:solidFill>
                <a:latin typeface="Aptos"/>
              </a:rPr>
              <a:t>LymphNode turns a trained DNN into a default-deny model: unauthorized inputs hit a sparse feature-space perturbation, while authorized inputs carry a hidden credential that cancels the perturbation.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343400"/>
            <a:ext cx="1325880" cy="301752"/>
          </a:xfrm>
          <a:prstGeom prst="roundRect">
            <a:avLst>
              <a:gd name="adj" fmla="val 22000"/>
            </a:avLst>
          </a:prstGeom>
          <a:solidFill>
            <a:srgbClr val="275EB0"/>
          </a:solidFill>
          <a:ln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93692"/>
            <a:ext cx="12344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Post-hoc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343400"/>
            <a:ext cx="1325880" cy="301752"/>
          </a:xfrm>
          <a:prstGeom prst="roundRect">
            <a:avLst>
              <a:gd name="adj" fmla="val 22000"/>
            </a:avLst>
          </a:prstGeom>
          <a:solidFill>
            <a:srgbClr val="1D9163"/>
          </a:solidFill>
          <a:ln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4393692"/>
            <a:ext cx="12344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Data-efficient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4343400"/>
            <a:ext cx="1325880" cy="301752"/>
          </a:xfrm>
          <a:prstGeom prst="roundRect">
            <a:avLst>
              <a:gd name="adj" fmla="val 22000"/>
            </a:avLst>
          </a:prstGeom>
          <a:solidFill>
            <a:srgbClr val="E17E3A"/>
          </a:solidFill>
          <a:ln>
            <a:solidFill>
              <a:srgbClr val="E1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4393692"/>
            <a:ext cx="12344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Feature-space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4343400"/>
            <a:ext cx="1325880" cy="301752"/>
          </a:xfrm>
          <a:prstGeom prst="roundRect">
            <a:avLst>
              <a:gd name="adj" fmla="val 22000"/>
            </a:avLst>
          </a:prstGeom>
          <a:solidFill>
            <a:srgbClr val="6E58B0"/>
          </a:solidFill>
          <a:ln>
            <a:solidFill>
              <a:srgbClr val="6E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393692"/>
            <a:ext cx="12344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Active defense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4343400"/>
            <a:ext cx="1325880" cy="301752"/>
          </a:xfrm>
          <a:prstGeom prst="roundRect">
            <a:avLst>
              <a:gd name="adj" fmla="val 22000"/>
            </a:avLst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4393692"/>
            <a:ext cx="12344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Low overhead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Threat Model and Deployment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673352"/>
            <a:ext cx="42976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75EB0"/>
                </a:solidFill>
                <a:latin typeface="Aptos"/>
              </a:rPr>
              <a:t>Model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130552"/>
            <a:ext cx="4297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Trains model, builds LymphNode plugin, issues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673352"/>
            <a:ext cx="42976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D9163"/>
                </a:solidFill>
                <a:latin typeface="Aptos"/>
              </a:rPr>
              <a:t>Edge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2130552"/>
            <a:ext cx="4297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Deploys protected model in trusted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E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050792"/>
            <a:ext cx="42976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E58B0"/>
                </a:solidFill>
                <a:latin typeface="Aptos"/>
              </a:rPr>
              <a:t>Authorized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4507992"/>
            <a:ext cx="4297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Submits input with feature-domain credential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947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4050792"/>
            <a:ext cx="42976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B84545"/>
                </a:solidFill>
                <a:latin typeface="Aptos"/>
              </a:rPr>
              <a:t>Adversary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507992"/>
            <a:ext cx="42976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Has architecture knowledge and oracle queries, but no key or feature access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0" y="2880360"/>
            <a:ext cx="2743200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0" y="2990088"/>
            <a:ext cx="48463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96574"/>
                </a:solidFill>
                <a:latin typeface="Aptos"/>
              </a:rPr>
              <a:t>Secure out-of-band key distribution; oracle-only attacker.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15" y="1143000"/>
            <a:ext cx="10360009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06440"/>
            <a:ext cx="1033272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The plugin sits after the early feature layer: sparse GSUAP is active by default; a verified credential triggers inverse noise.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Feature-Domain Credential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29200" cy="438912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Secret key: 32-bit binary pattern embedded in selected early-layer features.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Verification extracts quantized feature bits, not a visible patch.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Collision probability is approximately 2^-32 under balanced bits.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Authorized input is created by a small pixel perturbation that satisfies the feature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43891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27632"/>
            <a:ext cx="36576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75EB0"/>
                </a:solidFill>
                <a:latin typeface="Aptos"/>
              </a:rPr>
              <a:t>32-bit feature key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2331720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331720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04888" y="2331720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4888" y="2331720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88936" y="2331720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88936" y="2331720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2983" y="2331720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2983" y="2331720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1" y="2331720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2331720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2331720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331720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5128" y="2331720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2331720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09176" y="2331720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9176" y="2331720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2715768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770632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04888" y="2715768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4888" y="2770632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88936" y="2715768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8936" y="2770632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72983" y="2715768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72983" y="2770632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7031" y="2715768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2770632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2715768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2770632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25128" y="2715768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5128" y="2770632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09176" y="2715768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9176" y="2770632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3099815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3209544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4888" y="3099815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4888" y="3209544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88936" y="3099815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88936" y="3209544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72983" y="3099815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72983" y="3209544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57031" y="3099815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7031" y="3209544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1080" y="3099815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3209544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25128" y="3099815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25128" y="3209544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09176" y="3099815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09176" y="3209544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20840" y="3483863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0840" y="3648456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04888" y="3483863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04888" y="3648456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88936" y="3483863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88936" y="3648456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72983" y="3483863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72983" y="3648456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57031" y="3483863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57031" y="3648456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41080" y="3483863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1080" y="3648456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25128" y="3483863"/>
            <a:ext cx="283464" cy="283464"/>
          </a:xfrm>
          <a:prstGeom prst="rect">
            <a:avLst/>
          </a:prstGeom>
          <a:solidFill>
            <a:srgbClr val="1D91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25128" y="3648456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09176" y="3483863"/>
            <a:ext cx="283464" cy="283464"/>
          </a:xfrm>
          <a:prstGeom prst="rect">
            <a:avLst/>
          </a:prstGeom>
          <a:solidFill>
            <a:srgbClr val="D3DA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09176" y="3648456"/>
            <a:ext cx="283464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ptos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4251960"/>
            <a:ext cx="342900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Extracted from selected channels and spatial locations after early feature extraction.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GSUAP: Neutralize by Touching Critical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240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121408"/>
            <a:ext cx="1325880" cy="301752"/>
          </a:xfrm>
          <a:prstGeom prst="roundRect">
            <a:avLst>
              <a:gd name="adj" fmla="val 22000"/>
            </a:avLst>
          </a:prstGeom>
          <a:solidFill>
            <a:srgbClr val="275EB0"/>
          </a:solidFill>
          <a:ln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71700"/>
            <a:ext cx="12344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43200"/>
            <a:ext cx="17373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32C"/>
                </a:solidFill>
                <a:latin typeface="Aptos"/>
              </a:rPr>
              <a:t>Rank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246120"/>
            <a:ext cx="1737360" cy="6400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Use weight-gradient sensitivity on a small calibration set.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3063240"/>
            <a:ext cx="393192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11879" y="1828800"/>
            <a:ext cx="2240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2121408"/>
            <a:ext cx="1325880" cy="301752"/>
          </a:xfrm>
          <a:prstGeom prst="roundRect">
            <a:avLst>
              <a:gd name="adj" fmla="val 22000"/>
            </a:avLst>
          </a:prstGeom>
          <a:solidFill>
            <a:srgbClr val="E17E3A"/>
          </a:solidFill>
          <a:ln>
            <a:solidFill>
              <a:srgbClr val="E1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171700"/>
            <a:ext cx="12344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2743200"/>
            <a:ext cx="17373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32C"/>
                </a:solidFill>
                <a:latin typeface="Aptos"/>
              </a:rPr>
              <a:t>Build sparse mask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1" y="3246120"/>
            <a:ext cx="1737360" cy="6400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Select the top-k decision-critical channels.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16168" y="3063240"/>
            <a:ext cx="393192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1828800"/>
            <a:ext cx="2240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0840" y="2121408"/>
            <a:ext cx="1325880" cy="301752"/>
          </a:xfrm>
          <a:prstGeom prst="roundRect">
            <a:avLst>
              <a:gd name="adj" fmla="val 22000"/>
            </a:avLst>
          </a:prstGeom>
          <a:solidFill>
            <a:srgbClr val="1D9163"/>
          </a:solidFill>
          <a:ln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2171700"/>
            <a:ext cx="12344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743200"/>
            <a:ext cx="17373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32C"/>
                </a:solidFill>
                <a:latin typeface="Aptos"/>
              </a:rPr>
              <a:t>Optimize universal delta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246120"/>
            <a:ext cx="1737360" cy="6400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Train a static feature-space perturbation under an L-infinity bound.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05088" y="3063240"/>
            <a:ext cx="393192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89719" y="1828800"/>
            <a:ext cx="22402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E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09759" y="2121408"/>
            <a:ext cx="1325880" cy="301752"/>
          </a:xfrm>
          <a:prstGeom prst="roundRect">
            <a:avLst>
              <a:gd name="adj" fmla="val 22000"/>
            </a:avLst>
          </a:prstGeom>
          <a:solidFill>
            <a:srgbClr val="6E58B0"/>
          </a:solidFill>
          <a:ln>
            <a:solidFill>
              <a:srgbClr val="6E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2171700"/>
            <a:ext cx="12344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1" y="2743200"/>
            <a:ext cx="17373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32C"/>
                </a:solidFill>
                <a:latin typeface="Aptos"/>
              </a:rPr>
              <a:t>Deploy default-on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1" y="3246120"/>
            <a:ext cx="1737360" cy="6400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Normal users receive delta; VIP users receive delta plus antidote.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66360"/>
            <a:ext cx="978408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596574"/>
                </a:solidFill>
                <a:latin typeface="Aptos"/>
              </a:rPr>
              <a:t>Training-time work produces one static sparse delta; inference-time work is a masked addition plus optional antidote.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Inference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04288"/>
            <a:ext cx="1664208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C232C"/>
                </a:solidFill>
                <a:latin typeface="Aptos"/>
              </a:rPr>
              <a:t>Input 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50592"/>
            <a:ext cx="274320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63240" y="201168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72968" y="2304288"/>
            <a:ext cx="1664208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C232C"/>
                </a:solidFill>
                <a:latin typeface="Aptos"/>
              </a:rPr>
              <a:t>Conv1 / patch embedding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83480" y="2450592"/>
            <a:ext cx="274320" cy="0"/>
          </a:xfrm>
          <a:prstGeom prst="line">
            <a:avLst/>
          </a:prstGeom>
          <a:ln w="254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3520" y="201168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3248" y="2304288"/>
            <a:ext cx="1664208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C232C"/>
                </a:solidFill>
                <a:latin typeface="Aptos"/>
              </a:rPr>
              <a:t>Checkpoint extracts 32 bits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309360" y="1600200"/>
            <a:ext cx="1097280" cy="850392"/>
          </a:xfrm>
          <a:prstGeom prst="line">
            <a:avLst/>
          </a:prstGeom>
          <a:ln w="29209">
            <a:solidFill>
              <a:srgbClr val="B8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9360" y="2450592"/>
            <a:ext cx="1097280" cy="886968"/>
          </a:xfrm>
          <a:prstGeom prst="line">
            <a:avLst/>
          </a:prstGeom>
          <a:ln w="29209">
            <a:solidFill>
              <a:srgbClr val="1D91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105156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216151"/>
            <a:ext cx="2788920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B84545"/>
                </a:solidFill>
                <a:latin typeface="Aptos"/>
              </a:rPr>
              <a:t>No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554480"/>
            <a:ext cx="2788920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32C"/>
                </a:solidFill>
                <a:latin typeface="Aptos"/>
              </a:rPr>
              <a:t>Add masked GSUAP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874519"/>
            <a:ext cx="2788920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Utility neutralized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7889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953512"/>
            <a:ext cx="2788920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D9163"/>
                </a:solidFill>
                <a:latin typeface="Aptos"/>
              </a:rP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291839"/>
            <a:ext cx="2788920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32C"/>
                </a:solidFill>
                <a:latin typeface="Aptos"/>
              </a:rPr>
              <a:t>Add GSUAP + antidote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611879"/>
            <a:ext cx="2788920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High-fidelity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Artifact and Code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058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399032"/>
            <a:ext cx="30175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75EB0"/>
                </a:solidFill>
                <a:latin typeface="Aptos"/>
              </a:rPr>
              <a:t>Feature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399032"/>
            <a:ext cx="594360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src/models/control_model.py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84248"/>
            <a:ext cx="10058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30175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75EB0"/>
                </a:solidFill>
                <a:latin typeface="Aptos"/>
              </a:rPr>
              <a:t>UAP/GSUAP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594360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src/models/uap_control_model.py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34056"/>
            <a:ext cx="10058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98648"/>
            <a:ext cx="30175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75EB0"/>
                </a:solidFill>
                <a:latin typeface="Aptos"/>
              </a:rPr>
              <a:t>GD-UAP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98648"/>
            <a:ext cx="594360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src/training/gd_uap_trainer.py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83863"/>
            <a:ext cx="10058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648456"/>
            <a:ext cx="30175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75EB0"/>
                </a:solidFill>
                <a:latin typeface="Aptos"/>
              </a:rPr>
              <a:t>Channel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648456"/>
            <a:ext cx="594360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src/selection/weight_gradient_based.py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33672"/>
            <a:ext cx="10058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398264"/>
            <a:ext cx="301752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75EB0"/>
                </a:solidFill>
                <a:latin typeface="Aptos"/>
              </a:rPr>
              <a:t>Main reproduction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398264"/>
            <a:ext cx="5943600" cy="1463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reproduce.py --exp1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96012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96574"/>
                </a:solidFill>
                <a:latin typeface="Aptos"/>
              </a:rPr>
              <a:t>For a live artifact discussion, start from README.md, then use reproduce.py --exp1 for the main table.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669280" cy="448056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Datasets: CIFAR-10, MNIST, SVHN; additional cross-dataset and CelebA attack studies.</a:t>
            </a:r>
          </a:p>
          <a:p>
            <a:pPr>
              <a:spcAft>
                <a:spcPts val="5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Models: ResNet-18/50, ViT-Tiny/Small, plus DenseNet and AlexNet in the paper table.</a:t>
            </a:r>
          </a:p>
          <a:p>
            <a:pPr>
              <a:spcAft>
                <a:spcPts val="5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Baselines: Gaussian noise, SUAP, PP, CIP, BadNets, Blended, Passport.</a:t>
            </a:r>
          </a:p>
          <a:p>
            <a:pPr>
              <a:spcAft>
                <a:spcPts val="5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Metrics: unauthorized accuracy down, VIP accuracy up, overhead, attack success, robustness.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417320"/>
            <a:ext cx="374903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783080"/>
            <a:ext cx="7315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D9163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856231"/>
            <a:ext cx="214884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606040"/>
            <a:ext cx="7315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D9163"/>
                </a:solidFill>
                <a:latin typeface="Aptos"/>
              </a:rPr>
              <a:t>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79192"/>
            <a:ext cx="214884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architectures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429000"/>
            <a:ext cx="7315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D9163"/>
                </a:solidFill>
                <a:latin typeface="Aptos"/>
              </a:rPr>
              <a:t>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502152"/>
            <a:ext cx="214884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baseline families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251960"/>
            <a:ext cx="7315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D9163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25112"/>
            <a:ext cx="214884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evaluation axes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Main Result: Lock Out Unauthorized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Accuracy (%)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198949"/>
            <a:ext cx="1143000" cy="2967410"/>
          </a:xfrm>
          <a:prstGeom prst="rect">
            <a:avLst/>
          </a:prstGeom>
          <a:solidFill>
            <a:srgbClr val="E17E3A"/>
          </a:solidFill>
          <a:ln>
            <a:solidFill>
              <a:srgbClr val="E1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8909"/>
            <a:ext cx="114300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17E3A"/>
                </a:solidFill>
                <a:latin typeface="Aptos"/>
              </a:rPr>
              <a:t>85.4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303520"/>
            <a:ext cx="16002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Gaussian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664561"/>
            <a:ext cx="1143000" cy="2501798"/>
          </a:xfrm>
          <a:prstGeom prst="rect">
            <a:avLst/>
          </a:prstGeom>
          <a:solidFill>
            <a:srgbClr val="6E58B0"/>
          </a:solidFill>
          <a:ln>
            <a:solidFill>
              <a:srgbClr val="6E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344521"/>
            <a:ext cx="114300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6E58B0"/>
                </a:solidFill>
                <a:latin typeface="Aptos"/>
              </a:rPr>
              <a:t>72.0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303520"/>
            <a:ext cx="16002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SUAP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4693798"/>
            <a:ext cx="1143000" cy="472561"/>
          </a:xfrm>
          <a:prstGeom prst="rect">
            <a:avLst/>
          </a:prstGeom>
          <a:solidFill>
            <a:srgbClr val="1D9163"/>
          </a:solidFill>
          <a:ln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4373758"/>
            <a:ext cx="114300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163"/>
                </a:solidFill>
                <a:latin typeface="Aptos"/>
              </a:rPr>
              <a:t>13.6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303520"/>
            <a:ext cx="16002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GSUAP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882749"/>
            <a:ext cx="1143000" cy="3283610"/>
          </a:xfrm>
          <a:prstGeom prst="rect">
            <a:avLst/>
          </a:prstGeom>
          <a:solidFill>
            <a:srgbClr val="275EB0"/>
          </a:solidFill>
          <a:ln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562709"/>
            <a:ext cx="114300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75EB0"/>
                </a:solidFill>
                <a:latin typeface="Aptos"/>
              </a:rPr>
              <a:t>94.5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303520"/>
            <a:ext cx="16002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VIP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41732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737360"/>
            <a:ext cx="2834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D9163"/>
                </a:solidFill>
                <a:latin typeface="Aptos"/>
              </a:rPr>
              <a:t>Reading the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240280"/>
            <a:ext cx="2788920" cy="137160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C232C"/>
                </a:solidFill>
                <a:latin typeface="Aptos"/>
              </a:defRPr>
            </a:pPr>
            <a:r>
              <a:t>Unauthorized accuracy should be low.</a:t>
            </a:r>
          </a:p>
          <a:p>
            <a:pPr>
              <a:spcAft>
                <a:spcPts val="300"/>
              </a:spcAft>
              <a:defRPr sz="1400">
                <a:solidFill>
                  <a:srgbClr val="1C232C"/>
                </a:solidFill>
                <a:latin typeface="Aptos"/>
              </a:defRPr>
            </a:pPr>
            <a:r>
              <a:t>VIP accuracy should stay high.</a:t>
            </a:r>
          </a:p>
          <a:p>
            <a:pPr>
              <a:spcAft>
                <a:spcPts val="300"/>
              </a:spcAft>
              <a:defRPr sz="1400">
                <a:solidFill>
                  <a:srgbClr val="1C232C"/>
                </a:solidFill>
                <a:latin typeface="Aptos"/>
              </a:defRPr>
            </a:pPr>
            <a:r>
              <a:t>GSUAP gives the lockout; credential gives the recovery.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996696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ResNet-18 / CIFAR-10 / 60% channel ratio. Unauthorized accuracy drops near random guessing while VIP accuracy stays high.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Efficiency Frontier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ffici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92" y="1143000"/>
            <a:ext cx="758705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06440"/>
            <a:ext cx="1033272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GSUAP gives larger accuracy gap per modified channel, especially on robust architectures.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Runtime Cost is Constant and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6304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6517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75EB0"/>
                </a:solidFill>
                <a:latin typeface="Aptos"/>
              </a:rPr>
              <a:t>ResNet-18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65176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Aptos"/>
              </a:rPr>
              <a:t>1.70 -&gt; 2.74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2651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+1.0 ms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651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-14.8% throughput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6304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26517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D9163"/>
                </a:solidFill>
                <a:latin typeface="Aptos"/>
              </a:rPr>
              <a:t>ViT-Tiny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65176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Aptos"/>
              </a:rPr>
              <a:t>1.54 -&gt; 2.60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37560"/>
            <a:ext cx="2651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+1.1 ms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40480"/>
            <a:ext cx="2651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-6.7% throughput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6304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26517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17E3A"/>
                </a:solidFill>
                <a:latin typeface="Aptos"/>
              </a:rPr>
              <a:t>Storage/FLOPs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265176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Aptos"/>
              </a:rPr>
              <a:t>No meaningful increase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37560"/>
            <a:ext cx="2651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Params unchanged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2651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Element-wise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Protection Against Real Attack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51206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280160"/>
            <a:ext cx="51206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43891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75EB0"/>
                </a:solidFill>
                <a:latin typeface="Aptos"/>
              </a:rPr>
              <a:t>Knockoff model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251960" cy="210312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C232C"/>
                </a:solidFill>
                <a:latin typeface="Aptos"/>
              </a:defRPr>
            </a:pPr>
            <a:r>
              <a:t>No defense: 85.24% surrogate accuracy at 50K queries.</a:t>
            </a:r>
          </a:p>
          <a:p>
            <a:pPr>
              <a:spcAft>
                <a:spcPts val="400"/>
              </a:spcAft>
              <a:defRPr sz="1600">
                <a:solidFill>
                  <a:srgbClr val="1C232C"/>
                </a:solidFill>
                <a:latin typeface="Aptos"/>
              </a:defRPr>
            </a:pPr>
            <a:r>
              <a:t>PP/CIP: 45.66% / 48.25%.</a:t>
            </a:r>
          </a:p>
          <a:p>
            <a:pPr>
              <a:spcAft>
                <a:spcPts val="400"/>
              </a:spcAft>
              <a:defRPr sz="1600">
                <a:solidFill>
                  <a:srgbClr val="1C232C"/>
                </a:solidFill>
                <a:latin typeface="Aptos"/>
              </a:defRPr>
            </a:pPr>
            <a:r>
              <a:t>LymphNode: 15.28%, close to random guessing.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3891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D9163"/>
                </a:solidFill>
                <a:latin typeface="Aptos"/>
              </a:rPr>
              <a:t>GMI model inversion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4251960" cy="210312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C232C"/>
                </a:solidFill>
                <a:latin typeface="Aptos"/>
              </a:defRPr>
            </a:pPr>
            <a:r>
              <a:t>Clean target: Acc-1 82.71%, Acc-5 91.32%.</a:t>
            </a:r>
          </a:p>
          <a:p>
            <a:pPr>
              <a:spcAft>
                <a:spcPts val="400"/>
              </a:spcAft>
              <a:defRPr sz="1600">
                <a:solidFill>
                  <a:srgbClr val="1C232C"/>
                </a:solidFill>
                <a:latin typeface="Aptos"/>
              </a:defRPr>
            </a:pPr>
            <a:r>
              <a:t>LymphNode: Acc-1 4.17%, Acc-5 11.22%.</a:t>
            </a:r>
          </a:p>
          <a:p>
            <a:pPr>
              <a:spcAft>
                <a:spcPts val="400"/>
              </a:spcAft>
              <a:defRPr sz="1600">
                <a:solidFill>
                  <a:srgbClr val="1C232C"/>
                </a:solidFill>
                <a:latin typeface="Aptos"/>
              </a:defRPr>
            </a:pPr>
            <a:r>
              <a:t>Latency: 0.088 ms vs PP 0.308 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98755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596574"/>
                </a:solidFill>
                <a:latin typeface="Aptos"/>
              </a:rPr>
              <a:t>Feature-space corruption makes collected soft labels and inversion signals low-value.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Low Data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3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6670"/>
            <a:ext cx="10652760" cy="2833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06440"/>
            <a:ext cx="1033272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96574"/>
                </a:solidFill>
                <a:latin typeface="Aptos"/>
              </a:rPr>
              <a:t>GSUAP reaches robust lockout with roughly 50-100 calibration samples at practical channel ratios.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Cross-Dataset Adaptivity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18488"/>
            <a:ext cx="3566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Source -&gt;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1732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18488"/>
            <a:ext cx="1280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1732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618488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Accuracy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1732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618488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Fooling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05740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258568"/>
            <a:ext cx="3566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CIFAR-10 -&gt; CIFAR-100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05740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258568"/>
            <a:ext cx="1280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0.4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0574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258568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69.98%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0574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258568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64.13%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69748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898648"/>
            <a:ext cx="3566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CIFAR-10 -&gt; CIFAR-100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69748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898648"/>
            <a:ext cx="1280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0.6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269748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2898648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70.66%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269748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898648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75.02%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337559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538727"/>
            <a:ext cx="3566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CIFAR-10 -&gt; STL-10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337559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538727"/>
            <a:ext cx="1280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0.6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337559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3538727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46.06%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3337559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3538727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50.20%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178807"/>
            <a:ext cx="3566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CIFAR-10 -&gt; STL-10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977639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4178807"/>
            <a:ext cx="128016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0.8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3977639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4178807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51.31%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79" y="3977639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4178807"/>
            <a:ext cx="192024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C232C"/>
                </a:solidFill>
                <a:latin typeface="Aptos"/>
              </a:rPr>
              <a:t>55.11%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212080"/>
            <a:ext cx="97840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596574"/>
                </a:solidFill>
                <a:latin typeface="Aptos"/>
              </a:rPr>
              <a:t>Takeaway: original private data is not a hard requirement; surrogate domains can still initialize a useful lock.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Robustness and Stealth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800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5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81912"/>
            <a:ext cx="420624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75EB0"/>
                </a:solidFill>
                <a:latin typeface="Aptos"/>
              </a:rPr>
              <a:t>Imperceptible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420624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PSNR 56.64 dB, SSIM 0.9990, LPIPS 0.0011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4800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81912"/>
            <a:ext cx="420624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D9163"/>
                </a:solidFill>
                <a:latin typeface="Aptos"/>
              </a:rPr>
              <a:t>Forgery resistance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75688"/>
            <a:ext cx="420624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0.0% success for linear residual and U-Net attacks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4800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E5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39312"/>
            <a:ext cx="420624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6E58B0"/>
                </a:solidFill>
                <a:latin typeface="Aptos"/>
              </a:rPr>
              <a:t>Fine-tuning resistance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133088"/>
            <a:ext cx="420624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Recovered clean accuracy only 52.46% after 50 epochs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383280"/>
            <a:ext cx="4800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39312"/>
            <a:ext cx="420624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17E3A"/>
                </a:solidFill>
                <a:latin typeface="Aptos"/>
              </a:rPr>
              <a:t>JPEG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33088"/>
            <a:ext cx="420624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96574"/>
                </a:solidFill>
                <a:latin typeface="Aptos"/>
              </a:rPr>
              <a:t>Q=60 reaches 85.6% ASR after iterative 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Limitations and Honest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61872"/>
            <a:ext cx="50749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261872"/>
            <a:ext cx="50749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43891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75EB0"/>
                </a:solidFill>
                <a:latin typeface="Aptos"/>
              </a:rPr>
              <a:t>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57400"/>
            <a:ext cx="4297680" cy="201168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Runtime integrity is preserved.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Attacker lacks the secret key and intermediate feature access.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The model owner can distribute credentials out of band.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72768"/>
            <a:ext cx="43891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B84545"/>
                </a:solidFill>
                <a:latin typeface="Aptos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8" y="2057400"/>
            <a:ext cx="4297680" cy="2011680"/>
          </a:xfrm>
          <a:prstGeom prst="rect">
            <a:avLst/>
          </a:prstGeom>
          <a:noFill/>
        </p:spPr>
        <p:txBody>
          <a:bodyPr wrap="square" lIns="73152" rIns="45720" tIns="27432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Software-only plugin needs hardening against full file tampering.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Aggressive INT8 quantization may distort fine-grained credentials.</a:t>
            </a:r>
          </a:p>
          <a:p>
            <a:pPr>
              <a:spcAft>
                <a:spcPts val="400"/>
              </a:spcAft>
              <a:defRPr sz="1700">
                <a:solidFill>
                  <a:srgbClr val="1C232C"/>
                </a:solidFill>
                <a:latin typeface="Aptos"/>
              </a:defRPr>
            </a:pPr>
            <a:r>
              <a:t>Future work: obfuscation, hardware-backed integrity, quantization-aware embedding.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9875520" cy="9144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9163"/>
                </a:solidFill>
                <a:latin typeface="Aptos"/>
              </a:rPr>
              <a:t>LymphNode shifts DNN IP protection from proof-after-theft to prevention-before-use.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2743200"/>
            <a:ext cx="81381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2862072"/>
            <a:ext cx="7772400" cy="1371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32C"/>
                </a:solidFill>
                <a:latin typeface="Aptos"/>
              </a:rPr>
              <a:t>Default-deny feature-space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3401568"/>
            <a:ext cx="81381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3520439"/>
            <a:ext cx="7772400" cy="1371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32C"/>
                </a:solidFill>
                <a:latin typeface="Aptos"/>
              </a:rPr>
              <a:t>Post-hoc integration without retraining.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4059935"/>
            <a:ext cx="81381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178807"/>
            <a:ext cx="7772400" cy="1371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32C"/>
                </a:solidFill>
                <a:latin typeface="Aptos"/>
              </a:rPr>
              <a:t>Strong unauthorized neutralization with high VIP fidelity.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4718304"/>
            <a:ext cx="813816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4837176"/>
            <a:ext cx="7772400" cy="1371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32C"/>
                </a:solidFill>
                <a:latin typeface="Aptos"/>
              </a:rPr>
              <a:t>Low setup cost and roughly 1 ms inference overhead.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C232C"/>
                </a:solidFill>
                <a:latin typeface="Aptos"/>
              </a:rPr>
              <a:t>Backup: Useful Sources and Artifact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92608"/>
            <a:ext cx="411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596574"/>
                </a:solidFill>
                <a:latin typeface="Aptos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18288"/>
          </a:xfrm>
          <a:prstGeom prst="rect">
            <a:avLst/>
          </a:prstGeom>
          <a:solidFill>
            <a:srgbClr val="D3DAE2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23774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75EB0"/>
                </a:solidFill>
                <a:latin typeface="Aptos"/>
              </a:rPr>
              <a:t>Model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234440"/>
            <a:ext cx="77724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Tramer et al. 2016; Knockoff Nets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23774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75EB0"/>
                </a:solidFill>
                <a:latin typeface="Aptos"/>
              </a:rPr>
              <a:t>Watermarking / 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01368"/>
            <a:ext cx="77724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Uchida 2017; Adi 2018; DeepSigns 2019; SoK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68296"/>
            <a:ext cx="23774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75EB0"/>
                </a:solidFill>
                <a:latin typeface="Aptos"/>
              </a:rPr>
              <a:t>Active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68296"/>
            <a:ext cx="77724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Deep-Lock 2020; AdvParams 2021; ActiveGuard/SSAT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35224"/>
            <a:ext cx="23774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75EB0"/>
                </a:solidFill>
                <a:latin typeface="Aptos"/>
              </a:rPr>
              <a:t>UAP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935224"/>
            <a:ext cx="77724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Universal adversarial perturbations; GD-UAP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02152"/>
            <a:ext cx="23774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75EB0"/>
                </a:solidFill>
                <a:latin typeface="Aptos"/>
              </a:rPr>
              <a:t>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502152"/>
            <a:ext cx="777240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96574"/>
                </a:solidFill>
                <a:latin typeface="Aptos"/>
              </a:rPr>
              <a:t>README.md, reproduce.py, src/models, src/training, src/selection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51206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596574"/>
                </a:solidFill>
                <a:latin typeface="Aptos"/>
              </a:rPr>
              <a:t>LymphNode | DSN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